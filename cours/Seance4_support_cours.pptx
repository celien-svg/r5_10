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Modalites a l oral : 12 minutes, en binome, au tableau. NE PAS montrer Cypher avant qu ils aient souffert. L effet vient du contraste.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Modalites a l oral : 10 minutes en binome. Les cas 2 et 6 sont ceux ou la reponse est « ca depend » : les garder pour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4114800" cy="411480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4572000"/>
            <a:ext cx="2103120" cy="210312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graphe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et Cypher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relation devient un objet à part entière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R5.A.10 — Nouveaux paradigmes de bases de données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Recommander des jeux à Nova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: les jeux que possèdent ses amis et les amis de ses amis, et qu'elle ne possède pas.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120640" cy="1371600"/>
          </a:xfrm>
          <a:prstGeom prst="roundRect">
            <a:avLst>
              <a:gd name="adj" fmla="val 4667"/>
            </a:avLst>
          </a:prstGeom>
          <a:solidFill>
            <a:srgbClr val="2B2652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368296"/>
            <a:ext cx="4718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Joueur(id, pseudo)</a:t>
            </a:r>
            <a:endParaRPr lang="en-US" sz="14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Amitie(joueur_a, joueur_b)</a:t>
            </a:r>
            <a:endParaRPr lang="en-US" sz="14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Possede(joueur_id, jeu_id)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24028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difficultés à prévoir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L'amitié est symétrique · deux niveaux = deux auto-jointures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exclure Nova elle-même · exclure ce qu'elle possède déjà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Écrivez la requête SQL.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tous les outils : jointures, sous-requêtes, CTE, NOT EXISTS. Rien de nouveau depuis deux ans.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solution correcte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c'est bien la « bonne » réponse — pas une caricature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114800"/>
          </a:xfrm>
          <a:prstGeom prst="roundRect">
            <a:avLst>
              <a:gd name="adj" fmla="val 1556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73936"/>
            <a:ext cx="1066190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amis AS (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CASE WHEN a.joueur_a = 1 THEN a.joueur_b ELSE a.joueur_a END AS ami_id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Amitie a WHERE a.joueur_a = 1 OR a.joueur_b = 1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amis_niveau2 AS (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CASE WHEN a.joueur_a = am.ami_id THEN a.joueur_b ELSE a.joueur_a END AS ami_id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Amitie a JOIN amis am ON a.joueur_a = am.ami_id OR a.joueur_b = am.ami_id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tous_amis AS ( SELECT ami_id FROM amis UNION SELECT ami_id FROM amis_niveau2 )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j.titre, COUNT(DISTINCT p.joueur_id) AS nb_amis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tous_amis ta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Possede p ON p.joueur_id = ta.ami_id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Jeu j ON j.id = p.jeu_id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ta.ami_id &lt;&gt; 1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EXISTS (SELECT 1 FROM Possede mp WHERE mp.joueur_id = 1 AND mp.jeu_id = j.id)</a:t>
            </a:r>
            <a:endParaRPr lang="en-US" sz="1100" dirty="0"/>
          </a:p>
          <a:p>
            <a:pPr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j.titre ORDER BY nb_amis DESC;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Maintenant : la même chose en profondeur 4.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C3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requête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Cypher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2B1F5C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14016"/>
            <a:ext cx="106619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(moi:Joueur {pseudo: 'Nova'})-[:AMI_DE*1..2]-(ami:Joueur)-[:POSSEDE]-&gt;(j:Jeu)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ami &lt;&gt; moi AND NOT (moi)-[:POSSEDE]-&gt;(j)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j.titre, count(DISTINCT ami) AS nbAmis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nbAmis DESC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lignes.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3A2E8C"/>
          </a:solidFill>
          <a:ln w="12700">
            <a:solidFill>
              <a:srgbClr val="5C4F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pour passer en profondeur 4 : remplacer *1..2 par *1..4. C'est tout.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à la conclusion à ne pas tirer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0EC"/>
          </a:solidFill>
          <a:ln w="12700">
            <a:solidFill>
              <a:srgbClr val="FFB8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SQL est mauvais »  →  faux, et c'est le raccourci à éviter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SQL exprime très bien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73552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ensembles et les agrégats.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facturation mensuelle de PixelHub, les statistiques de vente, un inventaire comptable : vous les écrirez en SQL sans hésiter.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697480"/>
            <a:ext cx="5212080" cy="2377440"/>
          </a:xfrm>
          <a:prstGeom prst="roundRect">
            <a:avLst>
              <a:gd name="adj" fmla="val 3462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exprime mal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27355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relations.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niveau de profondeur ajoute une jointure, et la requête devient illisible avant de devenir lente.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moteur de graphe fait exactement l'inverse : excellent pour parcourir, médiocre pour agréger sur toutes les données.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de propriétés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éléments, c'est tout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37997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Nœud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entité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joueur, un jeu, une guilde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lien orienté et typé entre deux nœuds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AMI_DE, POSSEDE, MEMBRE_DE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Étiquette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catégorie d'un nœud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:Joueur, :Jeu, :Guilde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paire clé-valeur, sur un nœud ou sur une 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pseudo: "Nova", depuis: 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tout : la relation est un objet de première classe.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 un type, un sens, et peut porter ses propres propriétés. En relationnel, votre table Amitie est une table comme les autres,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lien n'existe qu'au moment où vous calculez la jointure. Ici, le lien est stocké.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propriété sur la relation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qui n'a pas d'équivalent naturel ailleurs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11096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(Nova)-[:POSSEDE {depuis: 2023, heuresJouees: 240}]-&gt;(Hades II)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mettriez-vous heuresJouees en relationnel 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table de liaison Possede.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même principe — sauf qu'ici c'est naturel, et directement interrogeable dans le motif.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92608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3108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qualifie le lien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5661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Depuis quand » ne dit rien sur le joueur, rien sur le jeu.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dit quelque chose sur la relation entre les deux. Donc c'est une propriété de la relation.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 contrôle en fin de séance : « la date d'achat d'un jeu par un joueur, tu la mets où ? »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 parcours est peu coûteux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une optimisation : c'est une structure de stockage différente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relationnel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trouver les amis de Nova, le moteur cherche dans la table Amitie.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index c'est rapide, mais c'est une recherche dans une structure globale — et on la refait à chaque niveau de profondeur.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2377440"/>
          </a:xfrm>
          <a:prstGeom prst="roundRect">
            <a:avLst>
              <a:gd name="adj" fmla="val 3462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graphe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774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nœud stocke physiquement des pointeurs vers ses relations.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« sait » où sont ses amis : passer à ses voisins, c'est suivre un pointeur.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L'adjacence sans index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dépend du nombre de voisins du nœud, pas de la taille totale de la base.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base contienne mille joueurs ou dix millions, trouver les amis de Nova coûte la même chose.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graphe fait mal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éviter le raisonnement simpliste inverse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67128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agrégats sur toutes les données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048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chiffre d'affaires du mois », « la note moyenne par genre ». Un moteur relationnel ou colonnes larges fera mieux.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84448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29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très gros volumes homogènes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8221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d'événements sans relations intéressantes entre eux : ce n'est pas un graphe, c'est une liste.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01768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distribution sur de nombreuses machines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239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délicate que pour les autres familles — car partitionner un graphe casse justement les liens qu'on veut suivre.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moteur de ce module n'est bon partout. C'est exactement pour ça qu'on en met plusieurs.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informations à classer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Nœud, relation, ou propriété ? Et pourquoi 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pseudo d'un joueur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9202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3592" y="21488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genre d'un jeu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9202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1488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9944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fait qu'un joueur possède un jeu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97696" y="19202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26296" y="21488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à laquelle il l'a acheté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54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guilde d'un joueur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64992" y="39776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3592" y="42062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93592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93592" y="4754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d'un joueur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81344" y="397764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4206240"/>
            <a:ext cx="411480" cy="4114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9944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9944" y="4754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fait que deux joueurs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déjà joué ensemble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620877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simple, propre au joueur, jamais interrogée pour elle-même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un lien entre deux entités, par définition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d'achat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Propriété de la 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Elle ne qualifie ni le joueur ni le jeu, mais le lien entre eux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Nœud + 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Elle a sa propre existence : un nom, des membres, une date de création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joué avec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possiblement un compteur de parties en propriété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Genre, pays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 dépend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deux cas intéressants — voir la suite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d'achat est le cas le plus instructif : beaucoup la mettent sur le joueur ou sur le jeu. Elle n'appartient ni à l'un ni à l'autre.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et pays : nœud ou propriété 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critère qui tranche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459736"/>
            <a:ext cx="4443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(:Jeu {genre: "FPS"})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genre ne sert qu'à l'afficher ou à filtrer. Plus simple, moins de nœuds.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75120" y="2331720"/>
            <a:ext cx="4663440" cy="594360"/>
          </a:xfrm>
          <a:prstGeom prst="roundRect">
            <a:avLst>
              <a:gd name="adj" fmla="val 10769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76288" y="2459736"/>
            <a:ext cx="4261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(:Jeu)-[:EST_DU_GENRE]-&gt;(:Genre)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voulez demander « les joueurs qui aiment les mêmes genres que moi ». Le genre devient un point de passage.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51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: est-ce que je veux passer PAR cette information pour aller ailleurs 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oui, c'est un nœud. Si c'est une caractéristique terminale, c'est une propriété.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en séance 2 avec imbriquer/référencer : on modélise d'après les questions qu'on veut poser, pas d'après la structure « naturelle » des données.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Cypher : on dessine ce qu'on cherche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nœud entre parenthèses, une relation entre crochets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017520"/>
          </a:xfrm>
          <a:prstGeom prst="roundRect">
            <a:avLst>
              <a:gd name="adj" fmla="val 2121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1066190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                         // un nœud quelconque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(j:Joueur)                   // un nœud avec l'étiquette Joueur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(j:Joueur {pseudo: 'Nova'})  // avec une propriété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-[:AMI_DE]-&gt;                 // relation sortante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&lt;-[:AMI_DE]-                 // relation entrante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-[:AMI_DE]-                  // relation dans les deux sens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-[:AMI_DE*1..3]-             // de 1 à 3 sauts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-[r:POSSEDE]-&gt;               // relation nommée r, pour lire ses propriétés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(a)-[:AMI_DE]-&gt;(b) se lit littéralement comme un dessin. C'est la principale raison pour laquelle Cypher s'apprend vite.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: CREATE ou MERGE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distinction à connaître avant d'écrire son premier script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4992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(j:Joueur {pseudo: 'Nova'})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crée systématiquement,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même si ça existe déjà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01968" y="1865376"/>
            <a:ext cx="4809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(j:Joueur {pseudo: 'Nova'})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crée seulement si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ça n'existe pas encore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0EC"/>
          </a:solidFill>
          <a:ln w="12700">
            <a:solidFill>
              <a:srgbClr val="FFB8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10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n'a aucune contrainte d'unicité par défaut. Rien ne s'oppose à deux nœuds identiques.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76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d'import avec CREATE, lancé deux fois, produit des doublons silencieux — et tous vos comptages deviennent faux.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script rejouable, c'est presque toujours MERGE qu'il faut.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relation entre deux nœuds existants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5020056"/>
            <a:ext cx="106619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(a:Joueur {pseudo: 'Nova'}), (b:Joueur {pseudo: 'Krayz'})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(a)-[:AMI_DE]-&gt;(b)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3931920"/>
          </a:xfrm>
          <a:prstGeom prst="roundRect">
            <a:avLst>
              <a:gd name="adj" fmla="val 1628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819656"/>
            <a:ext cx="10661904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(j:Joueur) WHERE j.niveau &gt; 10 RETURN j.pseudo, j.niveau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(:Joueur {pseudo: 'Nova'})-[:POSSEDE]-&gt;(j:Jeu)          // les jeux de Nova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j.titre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(:Joueur {pseudo: 'Nova'})-[:AMI_DE]-(ami:Joueur)       // ses amis (sans flèche)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ami.pseudo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(moi:Joueur {pseudo: 'Nova'})-[:AMI_DE*1..2]-(ami:Joueur)   // profondeur variable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ami &lt;&gt; moi RETURN DISTINCT ami.pseudo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(j:Jeu)&lt;-[:POSSEDE]-(p:Joueur)                          // agrégation</a:t>
            </a:r>
            <a:endParaRPr lang="en-US" sz="1200" dirty="0"/>
          </a:p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j.titre, count(p) AS proprietaires ORDER BY proprietaires DESC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shortestPath permet aussi de trouver le chemin le plus court entre deux nœuds — même famille d'algorithmes qu'un GPS.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de la séance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direction des relations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Neo4j, une relation a toujours une direction au stockage. On ne peut pas créer une relation non orientée.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on peut l'interroger sans tenir compte de la direction.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51760"/>
            <a:ext cx="4937760" cy="548640"/>
          </a:xfrm>
          <a:prstGeom prst="roundRect">
            <a:avLst>
              <a:gd name="adj" fmla="val 11667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779776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-[:AMI_DE]-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flèche : les deux sens.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qu'il faut pour une relation symétrique comme l'amitié.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46888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65176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30568" y="2779776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-[:POSSEDE]-&gt;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flèche : un seul sens.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ici — un joueur possède un jeu, pas l'inverse.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4A1F1A"/>
          </a:solidFill>
          <a:ln w="254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écrivez -[:AMI_DE]-&gt; par réflexe, vous n'obtiendrez que la moitié des amis.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aucune erreur. Sans aucun avertissement. Et une liste d'amis trop courte, personne ne le remarque.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troisième piège silencieux du module, après db.Jeux.find() et le classement sans Order.Descending.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Contraintes et index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créer avant l'import, pas après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10661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CONSTRAINT joueur_pseudo IF NOT EXISTS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(j:Joueur) REQUIRE j.pseudo IS UNIQUE;</a:t>
            </a: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CONSTRAINT jeu_titre IF NOT EXISTS FOR (j:Jeu) REQUIRE j.titre IS UNIQUE;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11880"/>
            <a:ext cx="475488" cy="47548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l'absence de doublons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filet de sécurité que Neo4j ne met pas tout seul.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338328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361188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Accélère les MERGE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572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contrainte d'unicité crée aussi un index. Or MERGE doit justement chercher si le nœud existe.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conventions à respecter : PascalCase pour les étiquettes, MAJUSCULES_AVEC_UNDERSCORES pour les relations.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et types de relations sont sensibles à la casse — et une faute ne lève aucune erreur, juste zéro résultat.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 établi aujourd'hui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274320" cy="27432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est un objet, pas une jointure calculée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9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 un type, un sens, et ses propres propriétés. C'est ce qui rend le parcours naturel à écrire.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274320" cy="27432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328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dépend du voisinage, pas du volume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352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L'adjacence sans index : chaque nœud pointe vers ses relations. Mille joueurs ou dix millions, même coût.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7A6FD0"/>
          </a:solidFill>
          <a:ln w="12700">
            <a:solidFill>
              <a:srgbClr val="7A6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484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ou propriété : est-ce que je passe PAR cette information 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0507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réflexe que imbriquer/référencer. On modélise d'après les questions qu'on veut poser.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274320" cy="27432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7640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graphe n'est pas bon partout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Médiocre pour les agrégats de masse et les transactions. Excellent pour parcourir des relations.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9875520" cy="658368"/>
          </a:xfrm>
          <a:prstGeom prst="roundRect">
            <a:avLst>
              <a:gd name="adj" fmla="val 12500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8521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— votre application a maintenant quatre bases de données. On regarde le prix à payer.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R5.A.10 - Seance 4 - Neo4j</dc:title>
  <dc:subject>PptxGenJS Presentation</dc:subject>
  <dc:creator>IUT - BUT Informatique</dc:creator>
  <cp:lastModifiedBy>IUT - BUT Informatique</cp:lastModifiedBy>
  <cp:revision>1</cp:revision>
  <dcterms:created xsi:type="dcterms:W3CDTF">2026-09-07T17:27:29Z</dcterms:created>
  <dcterms:modified xsi:type="dcterms:W3CDTF">2026-09-07T17:27:29Z</dcterms:modified>
</cp:coreProperties>
</file>