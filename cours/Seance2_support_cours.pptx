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Modalites a l oral : 15 minutes, en binome. Le cas 1 est celui ou la reponse est "ca depend" : le garder pour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remarquer que le nombre de lignes change de nature apres $group : on ne manipule plus des jeux, mais des genres. C est ce qui distingue une agregation d un simple filtre.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cours magistral. Enchainer oralement sur le 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389120" cy="438912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4480560"/>
            <a:ext cx="2194560" cy="219456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documentaire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à l'exercice du catalogue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R5.A.10 — Nouveaux paradigmes de bases de données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même catalogue, en documents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documents de la même collection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3200400"/>
          </a:xfrm>
          <a:prstGeom prst="roundRect">
            <a:avLst>
              <a:gd name="adj" fmla="val 2000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508406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"titre": "Counter-Strike",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"genre": "FPS",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"note": 4.5,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"joueursParEquipe": 5,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"cartes": ["Dust II", "Mirage"],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"modes": ["Compétitif"],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"classementCompetitif": true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03520" cy="3200400"/>
          </a:xfrm>
          <a:prstGeom prst="roundRect">
            <a:avLst>
              <a:gd name="adj" fmla="val 2000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0528" y="1865376"/>
            <a:ext cx="490118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"titre": "Cities: Skylines",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"genre": "Gestion",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"note": 4.2,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"scenarios": ["Île", "Vallée"],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"tailleCarteMax": "36 km²",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"modeBacASable": true,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"dureeMoyenneHeures": 12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champs partagés sur dix. Aucune colonne vide, aucun ALTER TABLE, aucune UNION.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de course avec un nombre de circuits ? On l'insère. Il n'y a rien à migrer.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3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contrepartie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vous empêche d'écrire ça 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94960" cy="1508760"/>
          </a:xfrm>
          <a:prstGeom prst="roundRect">
            <a:avLst>
              <a:gd name="adj" fmla="val 4242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185416"/>
            <a:ext cx="49926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"titre": "Hades II",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"note": "quatre virgule sept"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2057400"/>
            <a:ext cx="5303520" cy="1508760"/>
          </a:xfrm>
          <a:prstGeom prst="roundRect">
            <a:avLst>
              <a:gd name="adj" fmla="val 4242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0528" y="2185416"/>
            <a:ext cx="490118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"Titre": "Terraria",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"rating": 4.7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Personne. Le serveur ne vérifie plus rien.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0789920" cy="914400"/>
          </a:xfrm>
          <a:prstGeom prst="roundRect">
            <a:avLst>
              <a:gd name="adj" fmla="val 9000"/>
            </a:avLst>
          </a:prstGeom>
          <a:solidFill>
            <a:srgbClr val="3A2E8C"/>
          </a:solidFill>
          <a:ln w="12700">
            <a:solidFill>
              <a:srgbClr val="5C4F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26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n'a pas disparu : il a changé de responsable.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vit maintenant dans le code de votre application. On dit schema-on-read.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propose une validation de schéma optionnelle, côté serveur. La souplesse est un choix, pas une fatalité.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vocabulaire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correspondance — avec une limite importante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primaire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_id (obligatoire, généré si absent)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d'équivalent direct : on imbrique, ou on fait deux requêtes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291840" cy="3108960"/>
          </a:xfrm>
          <a:prstGeom prst="roundRect">
            <a:avLst>
              <a:gd name="adj" fmla="val 2647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limite de l'analogie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3774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table impose son schéma à toutes ses lignes.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collection n'impose rien à ses documents.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toute la différence — ne poussez pas la comparaison plus loin.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BSON et le champ _id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ne stocke pas du JSON textuel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— Binary JSON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représentation binaire, avec des types que le JSON n'a pas : ObjectId, dates réelles, entiers 32/64 bits, et Decimal128 pour les montants exacts.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conséquences pratiques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317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date est une vraie date : les comparaisons chronologiques marchent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Decimal128 est exact — le double du JSON ne l'est pas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069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_id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4531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et unique. Si vous ne le fournissez pas, MongoDB génère un ObjectId de 12 octets.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46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il est généré par le driver, côté client — pas par le serveur. Contrairement à un SERIAL PostgreSQL, vous connaissez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l'identifiant avant d'avoir écrit. Très pratique en système distribué : pas besoin d'un serveur central pour créer un identifiant unique.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contrainte à connaître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4754880" cy="2011680"/>
          </a:xfrm>
          <a:prstGeom prst="roundRect">
            <a:avLst>
              <a:gd name="adj" fmla="val 4091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2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Mo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maximale d'un document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20574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 paraît énorme.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26060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pourtant la contrainte la plus structurante du modèle documentaire : c'est elle qui interdit d'imbriquer une liste qui grandit sans limite.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3611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Retenez-la : on s'en sert dans cinq minutes.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titre de comparaison : une ligne PostgreSQL n'a pas de limite de taille comparable, mais elle ne contient pas de sous-listes.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Imbriquer ou référencer 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a des avis écrits par des joueurs. Deux modélisations possibles.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Imbriquer — les avis vivent dans le document du jeu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2880360"/>
          </a:xfrm>
          <a:prstGeom prst="roundRect">
            <a:avLst>
              <a:gd name="adj" fmla="val 2222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85416"/>
            <a:ext cx="508406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"...",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"titre": "Stardew Valley",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"avis": [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"auteur": "Nova",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"note": 5 },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"auteur": "Krayz",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"note": 4 }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Référencer — les avis sont dans une collection séparée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057400"/>
            <a:ext cx="5303520" cy="2880360"/>
          </a:xfrm>
          <a:prstGeom prst="roundRect">
            <a:avLst>
              <a:gd name="adj" fmla="val 2222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0528" y="2185416"/>
            <a:ext cx="490118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collection "jeux"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"j001",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"titre": "Stardew Valley" }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collection "avis"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"jeuId": "j001",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"auteur": "Nova", "note": 5 }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"jeuId": "j001",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"auteur": "Krayz", "note": 4 }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choix de conception du modèle documentaire. La syntaxe, vous la retrouverez dans la documentation ; ce choix, non.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cas à trancher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chacun : imbriquer, ou référencer ? Et pourquoi 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48840"/>
            <a:ext cx="457200" cy="45720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avis d'un jeu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2148840"/>
            <a:ext cx="457200" cy="45720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plateformes d'un jeu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(PC, PS5, Switch)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148840"/>
            <a:ext cx="457200" cy="45720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studio de développement,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développé 40 jeux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206240"/>
            <a:ext cx="457200" cy="45720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800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tags d'un jeu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(coopératif, rogue-like…)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4206240"/>
            <a:ext cx="457200" cy="45720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943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800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L'historique des parties jouées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jeu — plusieurs millions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70317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Imbriquer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courte, bornée, toujours lue avec le jeu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Imbriquer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 : bornés, jamais interrogés seuls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indépendamment, partagé par 40 jeux. L'imbriquer = 40 copies à corriger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Parties jouées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Croissance non bornée : les 16 Mo sont un mur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C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 dépend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cas intéressant — voir la suite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cas sur cinq se tranchent avec trois critères. On les formalise dans deux slides.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avis : ça dépend de votre application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« ça dépend » est ici la bonne réponse, pas une esquive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Imbriquer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77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affichez toujours les trois derniers avis avec la fiche, et il y en a une vingtaine.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avis par jeu, avec pagination, tri par pertinence, et une page « tous mes avis » par joueur.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7373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8472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377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hybride, très répandu : imbriquer les 3 derniers pour l'affichage rapide, garder la collection complète à côté.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4F3FA"/>
          </a:solidFill>
          <a:ln w="25400">
            <a:solidFill>
              <a:srgbClr val="4C3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troisième cas, on duplique volontairement pour éviter une requête. La faute n'est pas de dupliquer 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de dupliquer sans le savoir.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critères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noter — ils seront évalués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475488" cy="475488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39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lu ensemble 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231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charge toujours A avec B → imbriquer.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 s'interroge seul → référencer.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57600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5021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borné ?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8862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liste peut grandir sans limite → référencer, sans discussion.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16 Mo sont un mur.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12064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20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965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partagé ?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3492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l'entité est référencée par plusieurs autres → référencer,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toute mise à jour devient une chasse aux copies.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 contrôle à la fin de la séance : « les avis d'un jeu, tu imbriques ou tu référencies ? »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C3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renversement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CFC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relationnel, vous modélisez d'après la structure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CFC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données, en normalisant.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documentaire, vous modélisez d'après les requêtes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votre application.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3A2E8C"/>
          </a:solidFill>
          <a:ln w="12700">
            <a:solidFill>
              <a:srgbClr val="5C4F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690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n'est plus « quelle est la forme naturelle de cette donnée ? »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« qu'est-ce que mon application va lire ensemble ? »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23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 reniement de la normalisation. Elle optimise l'intégrité et l'espace ; la dénormalisation optimise la lecture.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choisit selon ce qui coûte cher dans l'application.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les jointures 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va venir — voici la réponse honnête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$lookup existe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0592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étape du pipeline d'agrégation qui réalise une forme de jointure gauche entre deux collections.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 non, « il n'y a pas de jointures » est faux.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212080" cy="2377440"/>
          </a:xfrm>
          <a:prstGeom prst="roundRect">
            <a:avLst>
              <a:gd name="adj" fmla="val 3462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50592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avez besoin de $lookup partout, c'est le signe que votre modèle documentaire est un modèle relationnel déguisé.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dans ce cas, PostgreSQL fera mieux le travail.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$lookup est un outil de dépannage, pas une base de conception.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dans une collection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modifier, supprimer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73936"/>
            <a:ext cx="106619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db.jeux.insertOne({ titre: "Hades II", genre: "Rogue-like", note: 4.7 })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db.jeux.insertMany([ { ... }, { ... } ])                    // insertion en lot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db.jeux.deleteOne({ titre: "Un jeu de test" })              // deleteMany pour tous les correspondants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: le filtre à gauche, l'opérateur de modification à droite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7040880" cy="1691640"/>
          </a:xfrm>
          <a:prstGeom prst="roundRect">
            <a:avLst>
              <a:gd name="adj" fmla="val 3784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511296"/>
            <a:ext cx="66385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db.jeux.updateOne({ titre: "Hades II" }, { $set:   { note: 4.8 } })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db.jeux.updateOne({ titre: "Hades II" }, { $inc:   { nbVotes: 1 } })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db.jeux.updateOne({ titre: "Hades II" }, { $push:  { tags: "solo" } })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db.jeux.updateOne({ titre: "Hades II" }, { $unset: { modeBacASable: "" } })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db.jeux.updateMany({ genre: "FPS" }, { $set: { competitif: true } })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3383280"/>
            <a:ext cx="3840480" cy="1691640"/>
          </a:xfrm>
          <a:prstGeom prst="roundRect">
            <a:avLst>
              <a:gd name="adj" fmla="val 4865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28432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opérateurs à connaître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28432" y="385876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$set   remplace la valeur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$inc   incrémente un nombre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$push  ajoute à un tableau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$unset supprime le champ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0EC"/>
          </a:solidFill>
          <a:ln w="12700">
            <a:solidFill>
              <a:srgbClr val="FFB8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376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L'oubli classique : updateOne({ ... }, { note: 4.8 }) sans opérateur → MongoDB refuse.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72414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$set, le moteur ne sait pas s'il doit modifier un champ ou remplacer tout le document. Pour remplacer entièrement, la commande dédiée est replaceOne.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Interroger une collection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3200400"/>
          </a:xfrm>
          <a:prstGeom prst="roundRect">
            <a:avLst>
              <a:gd name="adj" fmla="val 2000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819656"/>
            <a:ext cx="106619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db.jeux.find({ genre: "FPS" })                        // filtre simple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db.jeux.find({ note: { $gte: 4.5 } })                 // $gt $gte $lt $lte $ne $in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db.jeux.find({ plateformes: "Switch" })               // dans un tableau : rien de spécial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db.jeux.find({ "studio.pays": "France" })             // sous-document : notation pointée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db.jeux.find({ joueursParEquipe: { $exists: true } }) // le champ est-il présent ?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db.jeux.find({ genre: "FPS" }, { titre: 1, _id: 0 })  // projection : 1 garder, 0 exclure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212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$exists n'a aucun équivalent en SQL — et pour une bonne raison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59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relationnel, la colonne existe toujours : elle est simplement NULL. Ici, l'absence de champ est une information en soi.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index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principe qu'en relationnel, deux différences à connaître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645920"/>
          </a:xfrm>
          <a:prstGeom prst="roundRect">
            <a:avLst>
              <a:gd name="adj" fmla="val 3889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1066190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db.jeux.createIndex({ genre: 1 })            // 1 = ascendant, -1 = descendant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db.jeux.createIndex({ genre: 1, note: -1 })  // index composé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db.jeux.find({ genre: "FPS" }).explain("executionStats")   // équivalent de EXPLAIN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886200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_id est indexé automatiquement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46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reste est à créer à la main. Une collection sans index se scanne intégralement, exactement comme une table.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365760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388620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.explain() est votre EXPLAIN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846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réflexe à installer : mesurer avant et après création d'un index, plutôt que de supposer.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Agréger : répondre à une question de synthèse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plus « donne-moi les jeux » mais « donne-moi la note moyenne par genre »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veut : le top 3 des genres par note moyenne, en ne comptant que les jeux notés au moins 3.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résultat n'existe dans aucun document — il faut le calculer. MongoDB le fait en faisant passer les documents par des étapes successives.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33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Départ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documents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collection entière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2918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25496" y="246888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16936" y="2633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$match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16936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documents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16936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écarte les jeux notés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32918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02352" y="246888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93792" y="2633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$group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93792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lignes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résultat par genre,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moyenne et compte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32918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79208" y="246888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0648" y="2633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6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$sort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70648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lignes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Triées par note moyenne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décroissante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45168" y="32918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56064" y="246888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47504" y="2633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$limit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747504" y="29992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lignes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747504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garde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premières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reçoit les documents produits par la précédente, les transforme, et passe le résultat à la suivante.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le principe d'un tube Unix : une chaîne de traitements, pas une requête unique.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même chose, écrite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d'étapes, dans l'ordre d'exécution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2834640"/>
          </a:xfrm>
          <a:prstGeom prst="roundRect">
            <a:avLst>
              <a:gd name="adj" fmla="val 2258"/>
            </a:avLst>
          </a:prstGeom>
          <a:solidFill>
            <a:srgbClr val="15122B"/>
          </a:solidFill>
          <a:ln w="12700">
            <a:solidFill>
              <a:srgbClr val="3A3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65376"/>
            <a:ext cx="654710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db.jeux.aggregate([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$match: { note: { $gte: 3 } } },     // = WHERE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$group: { _id: "$genre",             // = GROUP BY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noteMoyenne: { $avg: "$note" },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nombre: { $sum: 1 } } },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$sort:  { noteMoyenne: -1 } },       // = ORDER BY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$limit: 3 }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du $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128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"$genre" = la valeur du champ.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= le nom du champ.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Confondre les deux met tous les jeux dans un seul groupe.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324612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compte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72160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 en premier quand c'est possible : filtrer avant de grouper coûte beaucoup moins cher que l'inverse.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là que MongoDB apporte quelque chose : l'agrégation, PostgreSQL la fait aussi bien, voire mieux.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MongoDB apporte ici, c'est le schéma variable du catalogue.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120640"/>
            <a:ext cx="3108960" cy="3108960"/>
          </a:xfrm>
          <a:prstGeom prst="ellipse">
            <a:avLst/>
          </a:prstGeom>
          <a:solidFill>
            <a:srgbClr val="2B2652"/>
          </a:solidFill>
          <a:ln w="12700">
            <a:solidFill>
              <a:srgbClr val="2B26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a établi aujourd'hui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274320" cy="27432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173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résout le catalogue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19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souple, un objet métier dans un seul document, pas de colonne vide ni de migration.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274320" cy="27432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53288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Imbriquer ou référencer : trois critères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352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ensemble ? Borné ? Partagé ? C'est la compétence de la séance, pas la syntaxe.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274320" cy="274320"/>
          </a:xfrm>
          <a:prstGeom prst="ellipse">
            <a:avLst/>
          </a:prstGeom>
          <a:solidFill>
            <a:srgbClr val="7A6FD0"/>
          </a:solidFill>
          <a:ln w="12700">
            <a:solidFill>
              <a:srgbClr val="7A6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6484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modélise d'après les requêtes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0507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d'après la structure « naturelle » de la donnée. Dupliquer peut être un bon choix — s'il est conscient.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274320" cy="27432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7640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souplesse est un transfert de responsabilité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166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n'a pas disparu : il vit dans votre code. Plus personne ne vous empêche d'écrire n'importe quoi.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9326880" cy="658368"/>
          </a:xfrm>
          <a:prstGeom prst="roundRect">
            <a:avLst>
              <a:gd name="adj" fmla="val 12500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85216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3 — où stocke-t-on le nombre de joueurs en ligne, mis à jour chaque seconde 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R5.A.10 - Seance 2 - MongoDB</dc:title>
  <dc:subject>PptxGenJS Presentation</dc:subject>
  <dc:creator>IUT - BUT Informatique</dc:creator>
  <cp:lastModifiedBy>IUT - BUT Informatique</cp:lastModifiedBy>
  <cp:revision>1</cp:revision>
  <dcterms:created xsi:type="dcterms:W3CDTF">2026-09-07T07:41:55Z</dcterms:created>
  <dcterms:modified xsi:type="dcterms:W3CDTF">2026-09-07T07:41:55Z</dcterms:modified>
</cp:coreProperties>
</file>